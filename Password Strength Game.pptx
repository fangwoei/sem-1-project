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11"/>
  </p:handoutMasterIdLst>
  <p:sldIdLst>
    <p:sldId id="256" r:id="rId3"/>
    <p:sldId id="263" r:id="rId4"/>
    <p:sldId id="264" r:id="rId5"/>
    <p:sldId id="286" r:id="rId6"/>
    <p:sldId id="276" r:id="rId8"/>
    <p:sldId id="285" r:id="rId9"/>
    <p:sldId id="288" r:id="rId10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222" y="-6"/>
      </p:cViewPr>
      <p:guideLst>
        <p:guide orient="horz" pos="221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00" d="100"/>
        <a:sy n="100" d="100"/>
      </p:scale>
      <p:origin x="0" y="-110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/>
          <a:p>
            <a:pPr lvl="0"/>
            <a:r>
              <a:rPr lang="zh-CN" altLang="en-US" dirty="0"/>
              <a:t>Click to edit Master text style</a:t>
            </a:r>
            <a:endParaRPr lang="zh-CN" altLang="en-US" dirty="0"/>
          </a:p>
          <a:p>
            <a:pPr lvl="1" indent="0"/>
            <a:r>
              <a:rPr lang="zh-CN" altLang="en-US" dirty="0"/>
              <a:t>Second level</a:t>
            </a:r>
            <a:endParaRPr lang="zh-CN" altLang="en-US" dirty="0"/>
          </a:p>
          <a:p>
            <a:pPr lvl="2" indent="0"/>
            <a:r>
              <a:rPr lang="zh-CN" altLang="en-US" dirty="0"/>
              <a:t>Third level</a:t>
            </a:r>
            <a:endParaRPr lang="zh-CN" altLang="en-US" dirty="0"/>
          </a:p>
          <a:p>
            <a:pPr lvl="3" indent="0"/>
            <a:r>
              <a:rPr lang="zh-CN" altLang="en-US" dirty="0"/>
              <a:t>Fourth level</a:t>
            </a:r>
            <a:endParaRPr lang="zh-CN" altLang="en-US" dirty="0"/>
          </a:p>
          <a:p>
            <a:pPr lvl="4" indent="0"/>
            <a:r>
              <a:rPr lang="zh-CN" altLang="en-US" dirty="0"/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F05245-1089-431C-9CB9-1C9E798A99A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 lIns="0" tIns="0" rIns="0" bIns="0"/>
          <a:lstStyle>
            <a:lvl1pPr algn="ctr" fontAlgn="base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228600"/>
            <a:r>
              <a:rPr lang="zh-CN" altLang="en-US" dirty="0"/>
              <a:t>Click to edit Master text style</a:t>
            </a:r>
            <a:endParaRPr lang="zh-CN" altLang="en-US" dirty="0"/>
          </a:p>
          <a:p>
            <a:pPr lvl="1" indent="-228600"/>
            <a:r>
              <a:rPr lang="zh-CN" altLang="en-US" dirty="0"/>
              <a:t>Second level</a:t>
            </a:r>
            <a:endParaRPr lang="zh-CN" altLang="en-US" dirty="0"/>
          </a:p>
          <a:p>
            <a:pPr lvl="2" indent="-228600"/>
            <a:r>
              <a:rPr lang="zh-CN" altLang="en-US" dirty="0"/>
              <a:t>Third level</a:t>
            </a:r>
            <a:endParaRPr lang="zh-CN" altLang="en-US" dirty="0"/>
          </a:p>
          <a:p>
            <a:pPr lvl="3" indent="-228600"/>
            <a:r>
              <a:rPr lang="zh-CN" altLang="en-US" dirty="0"/>
              <a:t>Fourth level</a:t>
            </a:r>
            <a:endParaRPr lang="zh-CN" altLang="en-US" dirty="0"/>
          </a:p>
          <a:p>
            <a:pPr lvl="4" indent="-228600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F05245-1089-431C-9CB9-1C9E798A99A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slow">
    <p:wipe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svg"/><Relationship Id="rId8" Type="http://schemas.openxmlformats.org/officeDocument/2006/relationships/image" Target="../media/image6.png"/><Relationship Id="rId7" Type="http://schemas.openxmlformats.org/officeDocument/2006/relationships/tags" Target="../tags/tag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tags" Target="../tags/tag6.xml"/><Relationship Id="rId3" Type="http://schemas.openxmlformats.org/officeDocument/2006/relationships/image" Target="../media/image3.jpeg"/><Relationship Id="rId2" Type="http://schemas.openxmlformats.org/officeDocument/2006/relationships/tags" Target="../tags/tag5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2.xml"/><Relationship Id="rId17" Type="http://schemas.openxmlformats.org/officeDocument/2006/relationships/tags" Target="../tags/tag11.xml"/><Relationship Id="rId16" Type="http://schemas.openxmlformats.org/officeDocument/2006/relationships/tags" Target="../tags/tag10.xml"/><Relationship Id="rId15" Type="http://schemas.openxmlformats.org/officeDocument/2006/relationships/image" Target="../media/image11.svg"/><Relationship Id="rId14" Type="http://schemas.openxmlformats.org/officeDocument/2006/relationships/image" Target="../media/image10.png"/><Relationship Id="rId13" Type="http://schemas.openxmlformats.org/officeDocument/2006/relationships/tags" Target="../tags/tag9.xml"/><Relationship Id="rId12" Type="http://schemas.openxmlformats.org/officeDocument/2006/relationships/image" Target="../media/image9.svg"/><Relationship Id="rId11" Type="http://schemas.openxmlformats.org/officeDocument/2006/relationships/image" Target="../media/image8.png"/><Relationship Id="rId10" Type="http://schemas.openxmlformats.org/officeDocument/2006/relationships/tags" Target="../tags/tag8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6.xml"/><Relationship Id="rId4" Type="http://schemas.openxmlformats.org/officeDocument/2006/relationships/image" Target="../media/image12.png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97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-762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098" name="组合 4"/>
          <p:cNvGrpSpPr/>
          <p:nvPr/>
        </p:nvGrpSpPr>
        <p:grpSpPr>
          <a:xfrm>
            <a:off x="3302000" y="1965325"/>
            <a:ext cx="5588000" cy="3764682"/>
            <a:chOff x="3457574" y="1641515"/>
            <a:chExt cx="5143501" cy="3463845"/>
          </a:xfrm>
        </p:grpSpPr>
        <p:grpSp>
          <p:nvGrpSpPr>
            <p:cNvPr id="4099" name="组合 5"/>
            <p:cNvGrpSpPr/>
            <p:nvPr/>
          </p:nvGrpSpPr>
          <p:grpSpPr>
            <a:xfrm>
              <a:off x="3590925" y="1980069"/>
              <a:ext cx="5010150" cy="679906"/>
              <a:chOff x="4324350" y="2295525"/>
              <a:chExt cx="3733800" cy="679906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04" name="组合 6"/>
            <p:cNvGrpSpPr/>
            <p:nvPr/>
          </p:nvGrpSpPr>
          <p:grpSpPr>
            <a:xfrm flipH="1" flipV="1">
              <a:off x="3457574" y="3370824"/>
              <a:ext cx="4951785" cy="726031"/>
              <a:chOff x="4324350" y="2295525"/>
              <a:chExt cx="3733800" cy="679906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10" name="文本框 8"/>
            <p:cNvSpPr txBox="1"/>
            <p:nvPr/>
          </p:nvSpPr>
          <p:spPr>
            <a:xfrm>
              <a:off x="4218180" y="4681774"/>
              <a:ext cx="3318288" cy="4235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 defTabSz="914400"/>
              <a:r>
                <a:rPr lang="en-MY" altLang="en-US" sz="2400" dirty="0">
                  <a:solidFill>
                    <a:srgbClr val="404040"/>
                  </a:solidFill>
                  <a:ea typeface="Calibri" panose="020F0502020204030204" pitchFamily="34" charset="0"/>
                  <a:sym typeface="Arial" panose="020B0604020202020204" pitchFamily="34" charset="0"/>
                </a:rPr>
                <a:t>Foo Fang Woei</a:t>
              </a:r>
              <a:endParaRPr lang="en-MY" altLang="en-US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111" name="文本框 9"/>
            <p:cNvSpPr txBox="1"/>
            <p:nvPr/>
          </p:nvSpPr>
          <p:spPr>
            <a:xfrm>
              <a:off x="4495261" y="1641515"/>
              <a:ext cx="3316567" cy="310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defTabSz="914400"/>
              <a:endParaRPr lang="zh-CN" altLang="en-US" sz="16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3570605" y="2592070"/>
            <a:ext cx="50006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4800"/>
              <a:t>Password Strength </a:t>
            </a:r>
            <a:endParaRPr lang="en-US" altLang="en-US" sz="4800"/>
          </a:p>
          <a:p>
            <a:pPr algn="ctr"/>
            <a:r>
              <a:rPr lang="en-US" altLang="en-US" sz="4800"/>
              <a:t>Game</a:t>
            </a:r>
            <a:endParaRPr lang="en-US" altLang="en-US" sz="4800"/>
          </a:p>
          <a:p>
            <a:pPr algn="ctr"/>
            <a:endParaRPr lang="en-US" altLang="en-US" sz="4800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242" name="组合 1"/>
          <p:cNvGrpSpPr/>
          <p:nvPr/>
        </p:nvGrpSpPr>
        <p:grpSpPr>
          <a:xfrm>
            <a:off x="211138" y="257175"/>
            <a:ext cx="558800" cy="463550"/>
            <a:chOff x="3448565" y="1912142"/>
            <a:chExt cx="4927433" cy="24850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773726" y="1912142"/>
              <a:ext cx="0" cy="79819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72566" y="1912142"/>
              <a:ext cx="46034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64977" y="1912142"/>
              <a:ext cx="0" cy="38683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362673" y="3976971"/>
              <a:ext cx="0" cy="4202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814013" y="4397217"/>
              <a:ext cx="454980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824904" y="3544871"/>
              <a:ext cx="0" cy="8523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48565" y="3544868"/>
              <a:ext cx="377483" cy="2342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50" name="文本框 28"/>
          <p:cNvSpPr txBox="1"/>
          <p:nvPr/>
        </p:nvSpPr>
        <p:spPr>
          <a:xfrm>
            <a:off x="290830" y="254000"/>
            <a:ext cx="5444490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Arial" panose="020B0604020202020204" pitchFamily="34" charset="0"/>
            </a:pPr>
            <a:r>
              <a:rPr lang="en-US" altLang="en-US" sz="2400" b="1" dirty="0">
                <a:solidFill>
                  <a:srgbClr val="404040"/>
                </a:solidFill>
                <a:ea typeface="Calibri" panose="020F0502020204030204" pitchFamily="34" charset="0"/>
              </a:rPr>
              <a:t>Project Vision &amp; Background</a:t>
            </a:r>
            <a:endParaRPr lang="en-US" altLang="en-US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  <a:p>
            <a:pPr>
              <a:buFont typeface="Arial" panose="020B0604020202020204" pitchFamily="34" charset="0"/>
            </a:pPr>
            <a:endParaRPr lang="en-US" altLang="en-US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28675" y="1728788"/>
            <a:ext cx="10515600" cy="29003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53" name="文本框 6"/>
          <p:cNvSpPr txBox="1"/>
          <p:nvPr/>
        </p:nvSpPr>
        <p:spPr>
          <a:xfrm>
            <a:off x="957263" y="1757363"/>
            <a:ext cx="5043487" cy="95313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Font typeface="Arial" panose="020B0604020202020204" pitchFamily="34" charset="0"/>
            </a:pPr>
            <a:r>
              <a:rPr lang="en-US" altLang="en-US" sz="2800" b="1" dirty="0">
                <a:solidFill>
                  <a:srgbClr val="404040"/>
                </a:solidFill>
                <a:ea typeface="Calibri" panose="020F0502020204030204" pitchFamily="34" charset="0"/>
              </a:rPr>
              <a:t>Project Vision &amp; Background</a:t>
            </a:r>
            <a:endParaRPr lang="en-US" altLang="en-US" sz="2800" b="1" dirty="0">
              <a:solidFill>
                <a:srgbClr val="404040"/>
              </a:solidFill>
              <a:ea typeface="Calibri" panose="020F0502020204030204" pitchFamily="34" charset="0"/>
            </a:endParaRPr>
          </a:p>
          <a:p>
            <a:pPr>
              <a:buFont typeface="Arial" panose="020B0604020202020204" pitchFamily="34" charset="0"/>
            </a:pPr>
            <a:endParaRPr lang="en-US" altLang="en-US" sz="28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0255" name="矩形 8"/>
          <p:cNvSpPr/>
          <p:nvPr/>
        </p:nvSpPr>
        <p:spPr>
          <a:xfrm>
            <a:off x="4491355" y="2520950"/>
            <a:ext cx="6137275" cy="181546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Autofit/>
          </a:bodyPr>
          <a:p>
            <a:pPr marL="285750" indent="-285750" algn="l" defTabSz="1216025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rPr>
              <a:t>Educate users about strong password practices.</a:t>
            </a:r>
            <a:endParaRPr lang="en-US" altLang="en-US" sz="2000" dirty="0">
              <a:solidFill>
                <a:srgbClr val="404040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l" defTabSz="1216025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rPr>
              <a:t>Provide an interactive learning game.</a:t>
            </a:r>
            <a:endParaRPr lang="en-US" altLang="en-US" sz="2000" dirty="0">
              <a:solidFill>
                <a:srgbClr val="404040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l" defTabSz="1216025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rPr>
              <a:t>Three levels of difficulty to teach password creation.</a:t>
            </a:r>
            <a:endParaRPr lang="en-US" altLang="en-US" sz="2000" dirty="0">
              <a:solidFill>
                <a:srgbClr val="404040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l" defTabSz="1216025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rPr>
              <a:t> Encourage awareness of cybersecurity through practice.</a:t>
            </a:r>
            <a:endParaRPr lang="en-US" altLang="en-US" sz="2000" dirty="0">
              <a:solidFill>
                <a:srgbClr val="404040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l" defTabSz="1216025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404040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</p:txBody>
      </p:sp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377190" y="3188970"/>
            <a:ext cx="3063875" cy="301879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265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266" name="组合 1"/>
          <p:cNvGrpSpPr/>
          <p:nvPr/>
        </p:nvGrpSpPr>
        <p:grpSpPr>
          <a:xfrm>
            <a:off x="211138" y="257175"/>
            <a:ext cx="558800" cy="463550"/>
            <a:chOff x="3448565" y="1912142"/>
            <a:chExt cx="4927433" cy="24850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773726" y="1912142"/>
              <a:ext cx="0" cy="79819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72566" y="1912142"/>
              <a:ext cx="46034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64977" y="1912142"/>
              <a:ext cx="0" cy="38683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362673" y="3976971"/>
              <a:ext cx="0" cy="4202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814013" y="4397217"/>
              <a:ext cx="454980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824904" y="3544871"/>
              <a:ext cx="0" cy="8523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48565" y="3544868"/>
              <a:ext cx="377483" cy="2342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74" name="文本框 28"/>
          <p:cNvSpPr txBox="1"/>
          <p:nvPr/>
        </p:nvSpPr>
        <p:spPr>
          <a:xfrm>
            <a:off x="290513" y="254000"/>
            <a:ext cx="3744912" cy="82994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Font typeface="Arial" panose="020B0604020202020204" pitchFamily="34" charset="0"/>
            </a:pPr>
            <a:r>
              <a:rPr lang="en-US" altLang="en-US" sz="2400" b="1" dirty="0">
                <a:solidFill>
                  <a:srgbClr val="404040"/>
                </a:solidFill>
                <a:ea typeface="Calibri" panose="020F0502020204030204" pitchFamily="34" charset="0"/>
              </a:rPr>
              <a:t>Project Plan &amp; Sprints</a:t>
            </a:r>
            <a:endParaRPr lang="en-US" altLang="en-US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  <a:p>
            <a:pPr>
              <a:buFont typeface="Arial" panose="020B0604020202020204" pitchFamily="34" charset="0"/>
            </a:pPr>
            <a:endParaRPr lang="en-US" altLang="en-US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62113" y="1736725"/>
            <a:ext cx="2994025" cy="3767138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382713" y="1455738"/>
            <a:ext cx="560388" cy="560388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8" name="矩形 1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386513" y="1736725"/>
            <a:ext cx="400843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Sprint 1: Requirements &amp; Research</a:t>
            </a: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  <a:p>
            <a:pPr marL="0" marR="0" lvl="0" indent="0" algn="l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Studied password guidelines and game concept.</a:t>
            </a: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1662430" y="2743200"/>
            <a:ext cx="2994660" cy="182245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1662113" y="3439160"/>
            <a:ext cx="3008313" cy="56038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文本框 15"/>
          <p:cNvSpPr txBox="1">
            <a:spLocks noChangeArrowheads="1"/>
          </p:cNvSpPr>
          <p:nvPr/>
        </p:nvSpPr>
        <p:spPr bwMode="auto">
          <a:xfrm>
            <a:off x="1662113" y="3438843"/>
            <a:ext cx="287020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+mn-ea"/>
              </a:rPr>
              <a:t>Project Plan &amp; Sprints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+mn-ea"/>
            </a:endParaRPr>
          </a:p>
        </p:txBody>
      </p:sp>
      <p:pic>
        <p:nvPicPr>
          <p:cNvPr id="6" name="Picture 5"/>
          <p:cNvPicPr/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45150" y="1736725"/>
            <a:ext cx="509270" cy="542290"/>
          </a:xfrm>
          <a:prstGeom prst="rect">
            <a:avLst/>
          </a:prstGeom>
        </p:spPr>
      </p:pic>
      <p:pic>
        <p:nvPicPr>
          <p:cNvPr id="8" name="Picture 7"/>
          <p:cNvPicPr/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45150" y="2743200"/>
            <a:ext cx="509270" cy="542290"/>
          </a:xfrm>
          <a:prstGeom prst="rect">
            <a:avLst/>
          </a:prstGeom>
        </p:spPr>
      </p:pic>
      <p:pic>
        <p:nvPicPr>
          <p:cNvPr id="9" name="Picture 8"/>
          <p:cNvPicPr/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45150" y="3749675"/>
            <a:ext cx="508635" cy="519430"/>
          </a:xfrm>
          <a:prstGeom prst="rect">
            <a:avLst/>
          </a:prstGeom>
        </p:spPr>
      </p:pic>
      <p:pic>
        <p:nvPicPr>
          <p:cNvPr id="10" name="Picture 9"/>
          <p:cNvPicPr/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45150" y="4733290"/>
            <a:ext cx="509270" cy="497840"/>
          </a:xfrm>
          <a:prstGeom prst="rect">
            <a:avLst/>
          </a:prstGeom>
        </p:spPr>
      </p:pic>
      <p:sp>
        <p:nvSpPr>
          <p:cNvPr id="11" name="矩形 13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385878" y="2743200"/>
            <a:ext cx="400843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Sprint 2: System Design</a:t>
            </a: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  <a:p>
            <a:pPr marL="0" marR="0" lvl="0" indent="0" algn="l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UML Use Case completed.Game flow planning.</a:t>
            </a: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矩形 13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386513" y="3749675"/>
            <a:ext cx="400843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Sprint 3: Initial Prototype</a:t>
            </a: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  <a:p>
            <a:pPr marL="0" marR="0" lvl="0" indent="0" algn="l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Basic UI, level selection, input validation.</a:t>
            </a: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29" name="矩形 13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6386513" y="4732020"/>
            <a:ext cx="400843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Sprint 4: Testing &amp; Refinement</a:t>
            </a: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  <a:p>
            <a:pPr marL="0" marR="0" lvl="0" indent="0" algn="l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Adjust rules, test user flow.</a:t>
            </a: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61430" y="951722"/>
            <a:ext cx="5023485" cy="1176163"/>
          </a:xfrm>
        </p:spPr>
        <p:txBody>
          <a:bodyPr wrap="square" lIns="0" tIns="0" rIns="0" bIns="0" anchor="b">
            <a:normAutofit/>
          </a:bodyPr>
          <a:lstStyle/>
          <a:p>
            <a:pPr algn="l"/>
            <a:r>
              <a:rPr lang="en-US" altLang="en-US" spc="0" dirty="0">
                <a:latin typeface="+mj-lt"/>
              </a:rPr>
              <a:t>UML Models</a:t>
            </a:r>
            <a:endParaRPr lang="en-US" altLang="en-US" spc="0" dirty="0">
              <a:latin typeface="+mj-lt"/>
            </a:endParaRPr>
          </a:p>
        </p:txBody>
      </p:sp>
      <p:sp>
        <p:nvSpPr>
          <p:cNvPr id="4" name="矩形 3"/>
          <p:cNvSpPr>
            <a:spLocks noChangeAspect="1"/>
          </p:cNvSpPr>
          <p:nvPr>
            <p:custDataLst>
              <p:tags r:id="rId2"/>
            </p:custDataLst>
          </p:nvPr>
        </p:nvSpPr>
        <p:spPr>
          <a:xfrm rot="2700000">
            <a:off x="1442970" y="1835400"/>
            <a:ext cx="3492000" cy="3492000"/>
          </a:xfrm>
          <a:prstGeom prst="rect">
            <a:avLst/>
          </a:prstGeom>
          <a:noFill/>
          <a:ln w="95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6358027" y="2369544"/>
            <a:ext cx="5040456" cy="3048552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ctr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Shows: View Knowledge, Choose Level, Play Game.</a:t>
            </a:r>
            <a:endParaRPr lang="en-US" alt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Levels </a:t>
            </a:r>
            <a:r>
              <a:rPr lang="en-MY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Easy, Medium, Hard</a:t>
            </a: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extend main game use case.</a:t>
            </a:r>
            <a:endParaRPr lang="en-US" alt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pic>
        <p:nvPicPr>
          <p:cNvPr id="2" name="Picture 1" descr="Screenshot 2025-11-25 1546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" y="1433195"/>
            <a:ext cx="5114925" cy="42957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577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4578" name="组合 1"/>
          <p:cNvGrpSpPr/>
          <p:nvPr/>
        </p:nvGrpSpPr>
        <p:grpSpPr>
          <a:xfrm>
            <a:off x="211138" y="257175"/>
            <a:ext cx="558800" cy="463550"/>
            <a:chOff x="3448565" y="1912142"/>
            <a:chExt cx="4927433" cy="24850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773726" y="1912142"/>
              <a:ext cx="0" cy="79819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72566" y="1912142"/>
              <a:ext cx="46034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64977" y="1912142"/>
              <a:ext cx="0" cy="38683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362673" y="3976971"/>
              <a:ext cx="0" cy="4202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814013" y="4397217"/>
              <a:ext cx="454980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824904" y="3544871"/>
              <a:ext cx="0" cy="8523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48565" y="3544868"/>
              <a:ext cx="377483" cy="2342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586" name="文本框 28"/>
          <p:cNvSpPr txBox="1"/>
          <p:nvPr/>
        </p:nvSpPr>
        <p:spPr>
          <a:xfrm>
            <a:off x="290513" y="254000"/>
            <a:ext cx="3744912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Font typeface="Arial" panose="020B0604020202020204" pitchFamily="34" charset="0"/>
            </a:pPr>
            <a:r>
              <a:rPr sz="2400">
                <a:sym typeface="+mn-ea"/>
              </a:rPr>
              <a:t>Challenges Faced</a:t>
            </a:r>
            <a:endParaRPr lang="zh-CN" altLang="en-US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1856105" y="1685925"/>
            <a:ext cx="3220720" cy="718185"/>
          </a:xfrm>
          <a:prstGeom prst="roundRect">
            <a:avLst>
              <a:gd name="adj" fmla="val 2777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588" name="文本框 5"/>
          <p:cNvSpPr txBox="1"/>
          <p:nvPr/>
        </p:nvSpPr>
        <p:spPr>
          <a:xfrm>
            <a:off x="1856105" y="1685925"/>
            <a:ext cx="346011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Arial" panose="020B0604020202020204" pitchFamily="34" charset="0"/>
            </a:pPr>
            <a:r>
              <a:rPr lang="en-US" altLang="en-US" b="1" dirty="0">
                <a:solidFill>
                  <a:srgbClr val="404040"/>
                </a:solidFill>
                <a:ea typeface="Calibri" panose="020F0502020204030204" pitchFamily="34" charset="0"/>
              </a:rPr>
              <a:t>Setting clear password strength levels</a:t>
            </a:r>
            <a:endParaRPr lang="en-US" altLang="en-US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856105" y="2692400"/>
            <a:ext cx="390525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We must decide what rules make a password “</a:t>
            </a:r>
            <a:r>
              <a:rPr kumimoji="0" lang="en-MY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Easy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”, “Medium”, or “</a:t>
            </a:r>
            <a:r>
              <a:rPr kumimoji="0" lang="en-MY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Hard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”.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15" name="矩形 13"/>
          <p:cNvSpPr>
            <a:spLocks noChangeArrowheads="1"/>
          </p:cNvSpPr>
          <p:nvPr/>
        </p:nvSpPr>
        <p:spPr bwMode="auto">
          <a:xfrm>
            <a:off x="6553200" y="2616200"/>
            <a:ext cx="4628515" cy="2734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no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We need to decide whether to use a password-strength API or write our own checking rules in the code.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6553200" y="1611630"/>
            <a:ext cx="2746375" cy="719455"/>
          </a:xfrm>
          <a:prstGeom prst="roundRect">
            <a:avLst>
              <a:gd name="adj" fmla="val 2777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592" name="文本框 9"/>
          <p:cNvSpPr txBox="1"/>
          <p:nvPr/>
        </p:nvSpPr>
        <p:spPr>
          <a:xfrm>
            <a:off x="6553200" y="1596390"/>
            <a:ext cx="272605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Arial" panose="020B0604020202020204" pitchFamily="34" charset="0"/>
            </a:pPr>
            <a:r>
              <a:rPr lang="en-US" altLang="en-US" b="1" dirty="0">
                <a:solidFill>
                  <a:srgbClr val="404040"/>
                </a:solidFill>
                <a:ea typeface="Calibri" panose="020F0502020204030204" pitchFamily="34" charset="0"/>
              </a:rPr>
              <a:t>Choosing between API or built-in code</a:t>
            </a:r>
            <a:endParaRPr lang="en-US" altLang="en-US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7772400" y="4217035"/>
            <a:ext cx="4303395" cy="264096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697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9698" name="组合 4"/>
          <p:cNvGrpSpPr/>
          <p:nvPr/>
        </p:nvGrpSpPr>
        <p:grpSpPr>
          <a:xfrm>
            <a:off x="3302000" y="1849438"/>
            <a:ext cx="5588000" cy="2668587"/>
            <a:chOff x="3457574" y="1641515"/>
            <a:chExt cx="5143501" cy="2455340"/>
          </a:xfrm>
        </p:grpSpPr>
        <p:grpSp>
          <p:nvGrpSpPr>
            <p:cNvPr id="29699" name="组合 5"/>
            <p:cNvGrpSpPr/>
            <p:nvPr/>
          </p:nvGrpSpPr>
          <p:grpSpPr>
            <a:xfrm>
              <a:off x="3590925" y="1980069"/>
              <a:ext cx="5010150" cy="679906"/>
              <a:chOff x="4324350" y="2295525"/>
              <a:chExt cx="3733800" cy="679906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704" name="组合 6"/>
            <p:cNvGrpSpPr/>
            <p:nvPr/>
          </p:nvGrpSpPr>
          <p:grpSpPr>
            <a:xfrm flipH="1" flipV="1">
              <a:off x="3457574" y="3370824"/>
              <a:ext cx="4951785" cy="726031"/>
              <a:chOff x="4324350" y="2295525"/>
              <a:chExt cx="3733800" cy="679906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709" name="文本框 7"/>
            <p:cNvSpPr txBox="1"/>
            <p:nvPr/>
          </p:nvSpPr>
          <p:spPr>
            <a:xfrm>
              <a:off x="3660391" y="2247390"/>
              <a:ext cx="4761830" cy="13583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defTabSz="914400"/>
              <a:r>
                <a:rPr lang="en-MY" altLang="en-US" sz="9000" i="1" dirty="0">
                  <a:solidFill>
                    <a:srgbClr val="404040"/>
                  </a:solidFill>
                  <a:ea typeface="Calibri" panose="020F0502020204030204" pitchFamily="34" charset="0"/>
                </a:rPr>
                <a:t>P</a:t>
              </a:r>
              <a:r>
                <a:rPr lang="en-US" altLang="en-US" sz="9000" i="1" dirty="0">
                  <a:solidFill>
                    <a:srgbClr val="404040"/>
                  </a:solidFill>
                  <a:ea typeface="Calibri" panose="020F0502020204030204" pitchFamily="34" charset="0"/>
                </a:rPr>
                <a:t>rototype</a:t>
              </a:r>
              <a:endParaRPr lang="en-US" altLang="en-US" sz="9000" i="1" dirty="0">
                <a:solidFill>
                  <a:srgbClr val="404040"/>
                </a:solidFill>
                <a:ea typeface="Calibri" panose="020F0502020204030204" pitchFamily="34" charset="0"/>
              </a:endParaRPr>
            </a:p>
          </p:txBody>
        </p:sp>
        <p:sp>
          <p:nvSpPr>
            <p:cNvPr id="29710" name="文本框 9"/>
            <p:cNvSpPr txBox="1"/>
            <p:nvPr/>
          </p:nvSpPr>
          <p:spPr>
            <a:xfrm>
              <a:off x="4495261" y="1641515"/>
              <a:ext cx="3316567" cy="3102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defTabSz="914400"/>
              <a:endParaRPr lang="zh-CN" altLang="en-US" sz="16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697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9698" name="组合 4"/>
          <p:cNvGrpSpPr/>
          <p:nvPr/>
        </p:nvGrpSpPr>
        <p:grpSpPr>
          <a:xfrm>
            <a:off x="3302000" y="1849438"/>
            <a:ext cx="5588000" cy="2668587"/>
            <a:chOff x="3457574" y="1641515"/>
            <a:chExt cx="5143501" cy="2455340"/>
          </a:xfrm>
        </p:grpSpPr>
        <p:grpSp>
          <p:nvGrpSpPr>
            <p:cNvPr id="29699" name="组合 5"/>
            <p:cNvGrpSpPr/>
            <p:nvPr/>
          </p:nvGrpSpPr>
          <p:grpSpPr>
            <a:xfrm>
              <a:off x="3590925" y="1980069"/>
              <a:ext cx="5010150" cy="679906"/>
              <a:chOff x="4324350" y="2295525"/>
              <a:chExt cx="3733800" cy="679906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704" name="组合 6"/>
            <p:cNvGrpSpPr/>
            <p:nvPr/>
          </p:nvGrpSpPr>
          <p:grpSpPr>
            <a:xfrm flipH="1" flipV="1">
              <a:off x="3457574" y="3370824"/>
              <a:ext cx="4951785" cy="726031"/>
              <a:chOff x="4324350" y="2295525"/>
              <a:chExt cx="3733800" cy="679906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709" name="文本框 7"/>
            <p:cNvSpPr txBox="1"/>
            <p:nvPr/>
          </p:nvSpPr>
          <p:spPr>
            <a:xfrm>
              <a:off x="3646364" y="2020114"/>
              <a:ext cx="4761830" cy="17124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defTabSz="914400"/>
              <a:r>
                <a:rPr lang="en-US" altLang="zh-CN" sz="11500" i="1" dirty="0">
                  <a:solidFill>
                    <a:srgbClr val="404040"/>
                  </a:solidFill>
                  <a:ea typeface="Calibri" panose="020F0502020204030204" pitchFamily="34" charset="0"/>
                </a:rPr>
                <a:t>THANKS</a:t>
              </a:r>
              <a:endParaRPr lang="en-US" altLang="zh-CN" sz="11500" i="1" dirty="0">
                <a:solidFill>
                  <a:srgbClr val="404040"/>
                </a:solidFill>
                <a:ea typeface="Calibri" panose="020F0502020204030204" pitchFamily="34" charset="0"/>
              </a:endParaRPr>
            </a:p>
          </p:txBody>
        </p:sp>
        <p:sp>
          <p:nvSpPr>
            <p:cNvPr id="29710" name="文本框 9"/>
            <p:cNvSpPr txBox="1"/>
            <p:nvPr/>
          </p:nvSpPr>
          <p:spPr>
            <a:xfrm>
              <a:off x="4495261" y="1641515"/>
              <a:ext cx="3316567" cy="3102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defTabSz="914400"/>
              <a:endParaRPr lang="zh-CN" altLang="en-US" sz="16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>
    <p:wipe/>
  </p:transition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DIAGRAM_VIRTUALLY_FRAME" val="{&quot;height&quot;:313.2,&quot;left&quot;:444.5,&quot;top&quot;:136.75,&quot;width&quot;:374.00007874015756}"/>
</p:tagLst>
</file>

<file path=ppt/tags/tag6.xml><?xml version="1.0" encoding="utf-8"?>
<p:tagLst xmlns:p="http://schemas.openxmlformats.org/presentationml/2006/main">
  <p:tag name="KSO_WM_DIAGRAM_VIRTUALLY_FRAME" val="{&quot;height&quot;:313.2,&quot;left&quot;:444.5,&quot;top&quot;:136.75,&quot;width&quot;:374.00007874015756}"/>
</p:tagLst>
</file>

<file path=ppt/tags/tag7.xml><?xml version="1.0" encoding="utf-8"?>
<p:tagLst xmlns:p="http://schemas.openxmlformats.org/presentationml/2006/main">
  <p:tag name="KSO_WM_DIAGRAM_VIRTUALLY_FRAME" val="{&quot;height&quot;:313.2,&quot;left&quot;:444.5,&quot;top&quot;:136.75,&quot;width&quot;:374.00007874015756}"/>
</p:tagLst>
</file>

<file path=ppt/tags/tag8.xml><?xml version="1.0" encoding="utf-8"?>
<p:tagLst xmlns:p="http://schemas.openxmlformats.org/presentationml/2006/main">
  <p:tag name="KSO_WM_DIAGRAM_VIRTUALLY_FRAME" val="{&quot;height&quot;:313.2,&quot;left&quot;:444.5,&quot;top&quot;:136.75,&quot;width&quot;:374.00007874015756}"/>
</p:tagLst>
</file>

<file path=ppt/tags/tag9.xml><?xml version="1.0" encoding="utf-8"?>
<p:tagLst xmlns:p="http://schemas.openxmlformats.org/presentationml/2006/main">
  <p:tag name="KSO_WM_DIAGRAM_VIRTUALLY_FRAME" val="{&quot;height&quot;:313.2,&quot;left&quot;:444.5,&quot;top&quot;:136.75,&quot;width&quot;:374.00007874015756}"/>
</p:tagLst>
</file>

<file path=ppt/tags/tag10.xml><?xml version="1.0" encoding="utf-8"?>
<p:tagLst xmlns:p="http://schemas.openxmlformats.org/presentationml/2006/main">
  <p:tag name="KSO_WM_DIAGRAM_VIRTUALLY_FRAME" val="{&quot;height&quot;:313.2,&quot;left&quot;:444.5,&quot;top&quot;:136.75,&quot;width&quot;:374.00007874015756}"/>
</p:tagLst>
</file>

<file path=ppt/tags/tag11.xml><?xml version="1.0" encoding="utf-8"?>
<p:tagLst xmlns:p="http://schemas.openxmlformats.org/presentationml/2006/main">
  <p:tag name="KSO_WM_DIAGRAM_VIRTUALLY_FRAME" val="{&quot;height&quot;:313.2,&quot;left&quot;:444.5,&quot;top&quot;:136.75,&quot;width&quot;:374.00007874015756}"/>
</p:tagLst>
</file>

<file path=ppt/tags/tag12.xml><?xml version="1.0" encoding="utf-8"?>
<p:tagLst xmlns:p="http://schemas.openxmlformats.org/presentationml/2006/main">
  <p:tag name="KSO_WM_DIAGRAM_VIRTUALLY_FRAME" val="{&quot;height&quot;:313.2,&quot;left&quot;:444.5,&quot;top&quot;:136.75,&quot;width&quot;:374.00007874015756}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337"/>
  <p:tag name="KSO_WM_UNIT_ID" val="custom20238337_1*a*1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337_1*i*1"/>
  <p:tag name="KSO_WM_TEMPLATE_CATEGORY" val="custom"/>
  <p:tag name="KSO_WM_TEMPLATE_INDEX" val="20238337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5.xml><?xml version="1.0" encoding="utf-8"?>
<p:tagLst xmlns:p="http://schemas.openxmlformats.org/presentationml/2006/main">
  <p:tag name="KSO_WM_UNIT_TEXT_FILL_FORE_SCHEMECOLOR_INDEX_BRIGHTNESS" val="0.25"/>
  <p:tag name="KSO_WM_DIAGRAM_MAX_ITEMCNT" val="1"/>
  <p:tag name="KSO_WM_DIAGRAM_MIN_ITEMCNT" val="1"/>
  <p:tag name="KSO_WM_DIAGRAM_VIRTUALLY_FRAME" val="{&quot;height&quot;:240.04346456692912,&quot;left&quot;:500.6320472440945,&quot;top&quot;:186.57826771653544,&quot;width&quot;:396.8862992125984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50_1*l_h_f*1_1_1"/>
  <p:tag name="KSO_WM_TEMPLATE_CATEGORY" val="diagram"/>
  <p:tag name="KSO_WM_TEMPLATE_INDEX" val="20237950"/>
  <p:tag name="KSO_WM_UNIT_LAYERLEVEL" val="1_1_1"/>
  <p:tag name="KSO_WM_TAG_VERSION" val="3.0"/>
  <p:tag name="KSO_WM_BEAUTIFY_FLAG" val="#wm#"/>
  <p:tag name="KSO_WM_UNIT_PRESET_TEXT" val="Presentations are communication tools that can be used as demonstrations, lectures, speeches, reports, and more. It serves a variety of purposes, making presentations powerful tools for convincing and teaching."/>
  <p:tag name="KSO_WM_UNIT_TEXT_FILL_FORE_SCHEMECOLOR_INDEX" val="1"/>
  <p:tag name="KSO_WM_UNIT_TEXT_FILL_TYPE" val="1"/>
  <p:tag name="KSO_WM_UNIT_USESOURCEFORMAT_APPLY" val="1"/>
</p:tagLst>
</file>

<file path=ppt/tags/tag16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396.85*240.022"/>
  <p:tag name="KSO_WM_SLIDE_POSITION" val="500.625*186.578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337"/>
  <p:tag name="KSO_WM_TEMPLATE_SUBCATEGORY" val="0"/>
  <p:tag name="KSO_WM_SLIDE_INDEX" val="1"/>
  <p:tag name="KSO_WM_TAG_VERSION" val="3.0"/>
  <p:tag name="KSO_WM_SLIDE_ID" val="custom20238337_1"/>
  <p:tag name="KSO_WM_SLIDE_ITEM_CNT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984</Words>
  <Application>WPS Presentation</Application>
  <PresentationFormat>宽屏</PresentationFormat>
  <Paragraphs>57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Impact</vt:lpstr>
      <vt:lpstr>Office Theme</vt:lpstr>
      <vt:lpstr>PowerPoint 演示文稿</vt:lpstr>
      <vt:lpstr>PowerPoint 演示文稿</vt:lpstr>
      <vt:lpstr>PowerPoint 演示文稿</vt:lpstr>
      <vt:lpstr>ADD YOUR TITLE HERE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ZhuLong</dc:creator>
  <cp:lastModifiedBy>符方玮S1T Foo Fang Woei</cp:lastModifiedBy>
  <cp:revision>19</cp:revision>
  <dcterms:created xsi:type="dcterms:W3CDTF">2016-01-13T03:02:00Z</dcterms:created>
  <dcterms:modified xsi:type="dcterms:W3CDTF">2025-11-25T07:50:57Z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1033-12.2.0.23155</vt:lpwstr>
  </property>
  <property fmtid="{D5CDD505-2E9C-101B-9397-08002B2CF9AE}" pid="3" name="ICV">
    <vt:lpwstr>EB46C38005A845BB93C19D94D3526470_13</vt:lpwstr>
  </property>
</Properties>
</file>