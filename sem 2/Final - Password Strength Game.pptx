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</p:sldMasterIdLst>
  <p:notesMasterIdLst>
    <p:notesMasterId r:id="rId12"/>
  </p:notesMasterIdLst>
  <p:handoutMasterIdLst>
    <p:handoutMasterId r:id="rId13"/>
  </p:handoutMasterIdLst>
  <p:sldIdLst>
    <p:sldId id="334" r:id="rId5"/>
    <p:sldId id="316" r:id="rId6"/>
    <p:sldId id="342" r:id="rId7"/>
    <p:sldId id="324" r:id="rId8"/>
    <p:sldId id="346" r:id="rId9"/>
    <p:sldId id="350" r:id="rId10"/>
    <p:sldId id="34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4" autoAdjust="0"/>
    <p:restoredTop sz="84967" autoAdjust="0"/>
  </p:normalViewPr>
  <p:slideViewPr>
    <p:cSldViewPr snapToGrid="0">
      <p:cViewPr varScale="1">
        <p:scale>
          <a:sx n="81" d="100"/>
          <a:sy n="81" d="100"/>
        </p:scale>
        <p:origin x="710" y="62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88634-FBA9-41D6-8B35-EE3A7D816B7C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C78D2-97D1-4B37-BDD1-08A09BD4CA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796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773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0105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706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98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56F17-81E7-173D-9D80-976AB60DD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806A9C-353F-1710-224A-A6065F8282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A66020-6748-FC81-B613-592C8A754A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E1CA3E-A8E6-2847-96FC-2D923DA2C2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18669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364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anchor="b"/>
          <a:lstStyle>
            <a:lvl1pPr algn="r">
              <a:lnSpc>
                <a:spcPts val="4000"/>
              </a:lnSpc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anchor="t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4pPr>
            <a:lvl5pPr marL="1828800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phic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anchor="b" anchorCtr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anchor="t" anchorCtr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anchor="t" anchorCtr="0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defRPr sz="1600"/>
            </a:lvl2pPr>
            <a:lvl3pPr marL="457200">
              <a:defRPr sz="1400"/>
            </a:lvl3pPr>
            <a:lvl4pPr marL="685800">
              <a:defRPr sz="12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Graphic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Graphic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+ Subtitle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spcBef>
                <a:spcPts val="1200"/>
              </a:spcBef>
              <a:buNone/>
              <a:defRPr sz="1600"/>
            </a:lvl2pPr>
            <a:lvl3pPr marL="914400" indent="0">
              <a:spcBef>
                <a:spcPts val="1200"/>
              </a:spcBef>
              <a:buNone/>
              <a:defRPr sz="1400"/>
            </a:lvl3pPr>
            <a:lvl4pPr marL="1371600" indent="0">
              <a:spcBef>
                <a:spcPts val="1200"/>
              </a:spcBef>
              <a:buNone/>
              <a:defRPr sz="1200"/>
            </a:lvl4pPr>
            <a:lvl5pPr marL="1828800" indent="0">
              <a:spcBef>
                <a:spcPts val="12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anchor="t" anchorCtr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600"/>
            </a:lvl2pPr>
            <a:lvl3pPr>
              <a:spcBef>
                <a:spcPts val="1200"/>
              </a:spcBef>
              <a:defRPr sz="1400"/>
            </a:lvl3pPr>
            <a:lvl4pPr>
              <a:spcBef>
                <a:spcPts val="1200"/>
              </a:spcBef>
              <a:defRPr sz="1200"/>
            </a:lvl4pPr>
            <a:lvl5pPr>
              <a:spcBef>
                <a:spcPts val="1200"/>
              </a:spcBef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sz="4000" b="1" i="0" cap="all"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lnSpc>
                <a:spcPct val="110000"/>
              </a:lnSpc>
              <a:defRPr sz="1600"/>
            </a:lvl2pPr>
            <a:lvl3pPr marL="457200">
              <a:lnSpc>
                <a:spcPct val="110000"/>
              </a:lnSpc>
              <a:defRPr sz="1400"/>
            </a:lvl3pPr>
            <a:lvl4pPr marL="685800">
              <a:lnSpc>
                <a:spcPct val="110000"/>
              </a:lnSpc>
              <a:defRPr sz="1200"/>
            </a:lvl4pPr>
            <a:lvl5pPr marL="914400">
              <a:lnSpc>
                <a:spcPct val="11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anchor="t" anchorCtr="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sz="1200">
                <a:solidFill>
                  <a:schemeClr val="tx1"/>
                </a:solidFill>
              </a:defRPr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anchor="b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>
              <a:spcBef>
                <a:spcPts val="1200"/>
              </a:spcBef>
              <a:defRPr sz="1800"/>
            </a:lvl2pPr>
            <a:lvl3pPr marL="914400">
              <a:spcBef>
                <a:spcPts val="1200"/>
              </a:spcBef>
              <a:defRPr sz="1800"/>
            </a:lvl3pPr>
            <a:lvl4pPr marL="1371600">
              <a:spcBef>
                <a:spcPts val="1200"/>
              </a:spcBef>
              <a:defRPr sz="1800"/>
            </a:lvl4pPr>
            <a:lvl5pPr marL="18288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800"/>
            </a:lvl2pPr>
            <a:lvl3pPr>
              <a:spcBef>
                <a:spcPts val="1200"/>
              </a:spcBef>
              <a:defRPr sz="1800"/>
            </a:lvl3pPr>
            <a:lvl4pPr>
              <a:spcBef>
                <a:spcPts val="1200"/>
              </a:spcBef>
              <a:defRPr sz="1800"/>
            </a:lvl4pPr>
            <a:lvl5pPr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Graphic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Graphic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Graphic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anchor="b" anchorCtr="0"/>
          <a:lstStyle>
            <a:lvl1pPr>
              <a:defRPr sz="4000" b="1" cap="all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ubbles and Title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anchor="b"/>
          <a:lstStyle>
            <a:lvl1pPr algn="r">
              <a:lnSpc>
                <a:spcPts val="4800"/>
              </a:lnSpc>
              <a:defRPr sz="48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Graphic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Graphic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800" b="1" i="0" cap="all" spc="100" baseline="0"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linquant-bombolone-2e5368.netlify.app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picpedia.org/chalkboard/t/thank-you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/>
          <a:lstStyle/>
          <a:p>
            <a:r>
              <a:rPr lang="en-US" dirty="0"/>
              <a:t>Password Strength Game</a:t>
            </a:r>
          </a:p>
        </p:txBody>
      </p:sp>
    </p:spTree>
    <p:extLst>
      <p:ext uri="{BB962C8B-B14F-4D97-AF65-F5344CB8AC3E}">
        <p14:creationId xmlns:p14="http://schemas.microsoft.com/office/powerpoint/2010/main" val="295540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F7377-87AF-3A8C-539C-8A9651F5DA3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424458" y="1053034"/>
            <a:ext cx="5918068" cy="3144965"/>
          </a:xfrm>
        </p:spPr>
        <p:txBody>
          <a:bodyPr/>
          <a:lstStyle/>
          <a:p>
            <a:r>
              <a:rPr lang="en-US" dirty="0"/>
              <a:t>Title: Password Strength Game </a:t>
            </a:r>
          </a:p>
          <a:p>
            <a:r>
              <a:rPr lang="en-US" dirty="0"/>
              <a:t>Subtitle: Final Presentation </a:t>
            </a:r>
          </a:p>
          <a:p>
            <a:r>
              <a:rPr lang="en-US" dirty="0"/>
              <a:t>Name: Foo Fang </a:t>
            </a:r>
            <a:r>
              <a:rPr lang="en-US" dirty="0" err="1"/>
              <a:t>Woei</a:t>
            </a:r>
            <a:r>
              <a:rPr lang="en-US" dirty="0"/>
              <a:t> </a:t>
            </a:r>
          </a:p>
          <a:p>
            <a:r>
              <a:rPr lang="en-US" dirty="0"/>
              <a:t>Date: March 2026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B3962BDB-616C-4B9F-F5FA-894163CB650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2426" b="2426"/>
          <a:stretch>
            <a:fillRect/>
          </a:stretch>
        </p:blipFill>
        <p:spPr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37812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64C0E11-7DE4-D558-C3EF-9B3C7A9BF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40080"/>
            <a:ext cx="7498080" cy="1280160"/>
          </a:xfrm>
        </p:spPr>
        <p:txBody>
          <a:bodyPr/>
          <a:lstStyle/>
          <a:p>
            <a:r>
              <a:rPr lang="en-MY" dirty="0"/>
              <a:t>Introduction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18541-7290-F1A9-2357-CA26E074E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sz="2800" b="1" dirty="0"/>
              <a:t>What the game is</a:t>
            </a:r>
            <a:endParaRPr lang="en-US" sz="2800" b="1" dirty="0"/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It is a browser-based game using HTML, CSS, JavaScript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Three difficulty levels: Easy, Medium, Hard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Teaches password security through gameplay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Has leaderboard and crack-time estimator (NEW — not in Sem 1)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5F0566-7962-8BD7-923B-1137F46CB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2215" y="118238"/>
            <a:ext cx="3789939" cy="17095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0615ED-8323-D5E9-AF71-EA5EBB7330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130" y="4989379"/>
            <a:ext cx="3696181" cy="1662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287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FDAA-00CD-846E-A576-B59DFA73F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85800"/>
            <a:ext cx="9137012" cy="1280160"/>
          </a:xfrm>
        </p:spPr>
        <p:txBody>
          <a:bodyPr/>
          <a:lstStyle/>
          <a:p>
            <a:r>
              <a:rPr lang="en-MY" dirty="0"/>
              <a:t>Challenges Faced &amp; Problem</a:t>
            </a:r>
            <a:endParaRPr lang="en-US" b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2B3B4A-6ED2-64D9-BEC7-1B6C66971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63471" y="2328369"/>
            <a:ext cx="5560478" cy="1101560"/>
          </a:xfrm>
        </p:spPr>
        <p:txBody>
          <a:bodyPr>
            <a:normAutofit/>
          </a:bodyPr>
          <a:lstStyle/>
          <a:p>
            <a:r>
              <a:rPr lang="en-US" b="1" dirty="0"/>
              <a:t>Problem 1 - Setting clear password strength levels</a:t>
            </a:r>
          </a:p>
          <a:p>
            <a:r>
              <a:rPr lang="en-US" dirty="0"/>
              <a:t>Defining clear criteria for what makes a password Easy, Medium, or Hard was a key design challenge</a:t>
            </a:r>
            <a:endParaRPr lang="en-US" b="1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AD01A1F-AD1A-423A-C8FC-7FBA0F4DB41D}"/>
              </a:ext>
            </a:extLst>
          </p:cNvPr>
          <p:cNvSpPr txBox="1">
            <a:spLocks/>
          </p:cNvSpPr>
          <p:nvPr/>
        </p:nvSpPr>
        <p:spPr>
          <a:xfrm>
            <a:off x="863471" y="3903526"/>
            <a:ext cx="5560478" cy="179121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Problem 3 - Users don't know what makes a strong password</a:t>
            </a:r>
          </a:p>
          <a:p>
            <a:r>
              <a:rPr lang="en-US" dirty="0"/>
              <a:t>Most people use weak passwords like '123456' because they don't understand what makes a password strong</a:t>
            </a:r>
            <a:endParaRPr lang="en-US" b="1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5FDF8062-73EC-79DD-3183-9EB0693F9E3C}"/>
              </a:ext>
            </a:extLst>
          </p:cNvPr>
          <p:cNvSpPr txBox="1">
            <a:spLocks/>
          </p:cNvSpPr>
          <p:nvPr/>
        </p:nvSpPr>
        <p:spPr>
          <a:xfrm>
            <a:off x="6631522" y="2328369"/>
            <a:ext cx="5560478" cy="179121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Problem 2 - Traditional advice is boring and ignored</a:t>
            </a:r>
          </a:p>
          <a:p>
            <a:r>
              <a:rPr lang="en-US" dirty="0"/>
              <a:t>Guidelines like "use 8 characters" are forgettable</a:t>
            </a:r>
          </a:p>
          <a:p>
            <a:r>
              <a:rPr lang="en-US" dirty="0"/>
              <a:t>— users skip them</a:t>
            </a:r>
            <a:endParaRPr lang="en-US" b="1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3815BCC5-62D6-3E42-BDD8-587FB4D810F4}"/>
              </a:ext>
            </a:extLst>
          </p:cNvPr>
          <p:cNvSpPr txBox="1">
            <a:spLocks/>
          </p:cNvSpPr>
          <p:nvPr/>
        </p:nvSpPr>
        <p:spPr>
          <a:xfrm>
            <a:off x="6631522" y="3906384"/>
            <a:ext cx="5560478" cy="179121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Problem 4 -  No interactive way to learn</a:t>
            </a:r>
          </a:p>
          <a:p>
            <a:r>
              <a:rPr lang="en-US" dirty="0"/>
              <a:t>There is no fun, engaging tool that teaches password strength through practice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02816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E24D3-07BE-C483-3F42-95EEE8333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Objectives</a:t>
            </a:r>
            <a:endParaRPr lang="en-US" b="0" dirty="0"/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9EFE5C42-059F-482E-C029-E8FA5107EED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79675" y="1307356"/>
            <a:ext cx="4512500" cy="4427438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Educate users through interactive gameplay </a:t>
            </a:r>
          </a:p>
          <a:p>
            <a:pPr marL="457200" indent="-457200" algn="just"/>
            <a:endParaRPr lang="en-US" sz="2400" dirty="0"/>
          </a:p>
          <a:p>
            <a:pPr algn="just"/>
            <a:r>
              <a:rPr lang="en-US" sz="2400" dirty="0"/>
              <a:t> Three difficulty levels to scaffold learning </a:t>
            </a:r>
          </a:p>
          <a:p>
            <a:pPr marL="457200" indent="-457200" algn="just"/>
            <a:endParaRPr lang="en-US" sz="2400" dirty="0"/>
          </a:p>
          <a:p>
            <a:pPr algn="just"/>
            <a:r>
              <a:rPr lang="en-US" sz="2400" dirty="0"/>
              <a:t>Show real-time crack-time estimation</a:t>
            </a:r>
          </a:p>
          <a:p>
            <a:pPr marL="457200" indent="-457200" algn="just"/>
            <a:endParaRPr lang="en-US" sz="2400" dirty="0"/>
          </a:p>
          <a:p>
            <a:pPr algn="just"/>
            <a:r>
              <a:rPr lang="en-US" sz="2400" dirty="0"/>
              <a:t>Motivate with scoring and leaderboard</a:t>
            </a:r>
          </a:p>
        </p:txBody>
      </p:sp>
    </p:spTree>
    <p:extLst>
      <p:ext uri="{BB962C8B-B14F-4D97-AF65-F5344CB8AC3E}">
        <p14:creationId xmlns:p14="http://schemas.microsoft.com/office/powerpoint/2010/main" val="719664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3F327-66C5-592B-78F8-257664382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A3C7C-1B03-4F94-C86C-D0DD595B16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1484" y="2770458"/>
            <a:ext cx="7909032" cy="1317083"/>
          </a:xfrm>
        </p:spPr>
        <p:txBody>
          <a:bodyPr/>
          <a:lstStyle/>
          <a:p>
            <a:pPr algn="ctr"/>
            <a:r>
              <a:rPr lang="en-US" sz="9600" dirty="0"/>
              <a:t>demo</a:t>
            </a:r>
          </a:p>
        </p:txBody>
      </p:sp>
      <p:sp>
        <p:nvSpPr>
          <p:cNvPr id="4" name="TextBox 3">
            <a:hlinkClick r:id="rId3"/>
            <a:extLst>
              <a:ext uri="{FF2B5EF4-FFF2-40B4-BE49-F238E27FC236}">
                <a16:creationId xmlns:a16="http://schemas.microsoft.com/office/drawing/2014/main" id="{0A4C050A-4708-9B1F-95B8-059BEB680223}"/>
              </a:ext>
            </a:extLst>
          </p:cNvPr>
          <p:cNvSpPr txBox="1"/>
          <p:nvPr/>
        </p:nvSpPr>
        <p:spPr>
          <a:xfrm>
            <a:off x="3375349" y="3887486"/>
            <a:ext cx="60975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2000" u="sng" dirty="0">
                <a:solidFill>
                  <a:schemeClr val="bg1"/>
                </a:solidFill>
              </a:rPr>
              <a:t>https://clinquant-bombolone-2e5368.netlify.app/</a:t>
            </a:r>
          </a:p>
        </p:txBody>
      </p:sp>
    </p:spTree>
    <p:extLst>
      <p:ext uri="{BB962C8B-B14F-4D97-AF65-F5344CB8AC3E}">
        <p14:creationId xmlns:p14="http://schemas.microsoft.com/office/powerpoint/2010/main" val="428651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5D893-E98A-260A-9EC4-B9365E533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82FD424-F2E0-9658-5F13-DA2EDEC2ED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80590" y="3611470"/>
            <a:ext cx="4024614" cy="268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949180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axy presentation_Win32_SL_V16" id="{36B34AD0-AFC2-468E-8620-6CFD159B149F}" vid="{ACCF8893-1A0E-437D-A612-1659D305EA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88E9556-96EB-43B4-8552-B18E859B65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ABD9919-8F5A-4B99-83E1-E90FE1DCF2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0E87F72-70BF-43BC-A0D4-53665DC1267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{E49998CC-EF56-492E-954A-62871E63BCF4}372c19de-dfd4-4de7-9293-53c5fa2d1f7c-TF54b766f8-63ee-43b7-9d15-113a5f305028b8e3081f_win32</Template>
  <TotalTime>97</TotalTime>
  <Words>206</Words>
  <Application>Microsoft Office PowerPoint</Application>
  <PresentationFormat>Widescreen</PresentationFormat>
  <Paragraphs>39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Univers</vt:lpstr>
      <vt:lpstr>GradientVTI</vt:lpstr>
      <vt:lpstr>Password Strength Game</vt:lpstr>
      <vt:lpstr>PowerPoint Presentation</vt:lpstr>
      <vt:lpstr>Introduction </vt:lpstr>
      <vt:lpstr>Challenges Faced &amp; Problem</vt:lpstr>
      <vt:lpstr>Objectives</vt:lpstr>
      <vt:lpstr>demo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fangwoei Foo</dc:creator>
  <cp:lastModifiedBy>fangwoei Foo</cp:lastModifiedBy>
  <cp:revision>3</cp:revision>
  <dcterms:created xsi:type="dcterms:W3CDTF">2026-03-23T05:04:04Z</dcterms:created>
  <dcterms:modified xsi:type="dcterms:W3CDTF">2026-03-23T06:46:25Z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